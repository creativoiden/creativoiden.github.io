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大家好，今天我给大家分享的书是《西南联大国史课》。最开始看到这本书的时候，我以为它是一本很枯燥、全是知识点的历史教辅，但真正读下来才发现，它完全不是我们课本上那种简略的历史总结。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介绍书的内容之前，我想先说说这本书诞生的时代背景。抗日战争爆发后，北京大学、清华大学、南开大学三校南迁，先到长沙，再到昆明，联合组建了国立西南联合大学。从1937年到1946年，在昆明整整存在了九年。那时候条件特别艰苦，教室是铁皮顶、土坯墙，下雨时叮当响；物资匮乏，师生经常吃不饱饭；时常面临日军空袭，要跑警报。但就是在这样的条件下，大师云集，弦歌不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简单跟大家说说书里的主要内容。四位老师讲课的侧重点不一样，合在一起就是一套特别完整的中国史视角。从张荫麟讲的上古到魏晋，到雷海宗讲的通史脉络，到陈寅恪讲的隋唐盛世，再到吴晗讲的明清历史，正好串起了整个中国古代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张荫麟先生，他主要讲上古到魏晋的历史。他写历史特别温柔，不生硬说教，更像讲故事。他不会只告诉我们"发生了什么"，而是会讲清楚当时的社会生活、普通人的状态，让我们能真切感受到，历史不是冰冷的条文，是无数人真实的生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雷海宗先生，他的内容是整本书里格局最大的。他不纠结细碎的历史小事，而是把几千年历史串起来，总结中国历史的周期规律和民族精神。他有个观点让我印象很深，他说中国历史之所以能绵延不绝，不是因为一直强盛，而是因为我们的文明有极强的韧性，就算经历战乱、分裂，最后总能重新凝聚、延续下去。读完这部分，我第一次真正理解了什么叫"中华文明源远流长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有陈寅恪先生，他的讲课更偏向细节和文化内核，重点讲解隋唐盛世的制度、文化演变。他会告诉我们，盛唐的繁荣不只是国力强盛，更是包容、开放的文化底气，一个时代的兴盛，从来不是单一的军事强大，而是制度、文化、人心的共同向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吴晗先生，他主要讲明清历史，重点剖析封建制度的利弊、王朝末期的问题。我们平时说明清落后、闭关锁国，其实都很笼统，而书里会结合具体的社会状况、政策问题，清清楚楚讲明白封建王朝一步步走向僵化、衰落的原因，读起来特别通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读完这本书，我最大的收获就是：我们学历史，真的不只是为了考试。课本给我们的是考点，而《西南联大国史课》给我们的是历史的逻辑和民族的底气。它让我跳出了碎片化的知识点，真正串联起了上下五千年的历史脉络，也理解了先辈们的家国情怀。如果大家觉得历史枯燥、混乱，推荐大家读一读这本书。它能让我们轻松读懂中国史，也能让我们明白，我们如今学到的每一段历史，都是中华民族一路走来的底气与力量。我的分享完毕，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AFF8B-D191-08E7-2857-920E3E68F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A8DBC5-B1CC-B36F-B531-42665BFF1D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0F9C5-9467-6EC7-7917-3973631038E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1DD5793-0BEE-2767-D635-592641728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293D993-B2F7-D693-745B-4C36E70BB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CA1A6-3AFF-1BA3-0144-D7121128A8B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EEE9A-3AF5-63EE-C5AC-87AD21878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65782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rot="-28647">
            <a:off x="1524026" y="227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5C3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/>
          <p:cNvSpPr/>
          <p:nvPr/>
        </p:nvSpPr>
        <p:spPr>
          <a:xfrm>
            <a:off x="1524000" y="2540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西南联大国史课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524000" y="3683000"/>
            <a:ext cx="914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 dirty="0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—— </a:t>
            </a:r>
            <a:r>
              <a:rPr lang="en-US" sz="2200" b="0" i="0" u="none" strike="noStrike" dirty="0" err="1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一堂跨越八十年的历史公开课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42969">
            <a:off x="1524040" y="481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B2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524000" y="508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分享人：何晔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这本书诞生在一个什么样的时代</a:t>
            </a:r>
            <a:r>
              <a:rPr lang="en-US" sz="2800" b="1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？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C5C3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1937年 · </a:t>
            </a:r>
            <a:r>
              <a:rPr lang="en-US" sz="1600" b="0" i="0" u="none" strike="noStrike" dirty="0" err="1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抗战烽火中的西南联大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抗日战争爆发后</a:t>
            </a:r>
            <a:r>
              <a:rPr lang="en-US" sz="15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北京大学、清华大学、南开大学</a:t>
            </a:r>
            <a:endParaRPr lang="en-US" sz="1500" b="0" i="0" u="none" strike="noStrike" dirty="0">
              <a:solidFill>
                <a:srgbClr val="2B2B2B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三校南迁，先到长沙，再到昆明</a:t>
            </a:r>
            <a:r>
              <a:rPr lang="en-US" sz="15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联合组建了</a:t>
            </a:r>
            <a:r>
              <a:rPr lang="en-US" sz="1500" b="1" i="0" u="none" strike="noStrike" dirty="0" err="1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国立西南联合大学</a:t>
            </a:r>
            <a:r>
              <a:rPr lang="en-US" sz="15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从1937年到1946年，</a:t>
            </a: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在昆明整整存在了九年</a:t>
            </a:r>
            <a:r>
              <a:rPr lang="en-US" sz="15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cxnSp>
        <p:nvCxnSpPr>
          <p:cNvPr id="6" name="Connector 6"/>
          <p:cNvCxnSpPr/>
          <p:nvPr/>
        </p:nvCxnSpPr>
        <p:spPr>
          <a:xfrm rot="5385676">
            <a:off x="4572000" y="380366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条件有多艰苦？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29210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en-US" sz="15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教室是铁皮顶、土坯墙，下雨时叮当响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en-US" sz="15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物资匮乏，师生经常吃不饱饭</a:t>
            </a:r>
            <a:endParaRPr lang="en-US" sz="1500" b="0" i="0" u="none" strike="noStrike" dirty="0">
              <a:solidFill>
                <a:srgbClr val="646464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en-US" sz="15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时常面临日军空袭，要跑警报</a:t>
            </a:r>
            <a:endParaRPr lang="en-US" sz="1500" b="0" i="0" u="none" strike="noStrike" dirty="0">
              <a:solidFill>
                <a:srgbClr val="646464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en-US" sz="15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没有像样的图书馆和实验室</a:t>
            </a:r>
            <a:endParaRPr lang="en-US" sz="1500" b="0" i="0" u="none" strike="noStrike" dirty="0">
              <a:solidFill>
                <a:srgbClr val="646464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en-US" sz="15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但就是在这样的条件下</a:t>
            </a:r>
            <a:r>
              <a:rPr lang="en-US" sz="15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</a:p>
          <a:p>
            <a:pPr marL="0" indent="0" algn="l">
              <a:lnSpc>
                <a:spcPct val="150000"/>
              </a:lnSpc>
            </a:pPr>
            <a:r>
              <a:rPr lang="en-US" sz="1500" b="1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大师云集，弦歌不辍</a:t>
            </a:r>
            <a:r>
              <a:rPr lang="en-US" sz="1500" b="1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这本书里有谁？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C5C3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90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四位大师，四种视角，合在一起就是一套完整的中国史脉络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2286000" cy="2540000"/>
          </a:xfrm>
          <a:prstGeom prst="roundRect">
            <a:avLst>
              <a:gd name="adj" fmla="val 0"/>
            </a:avLst>
          </a:prstGeom>
          <a:solidFill>
            <a:srgbClr val="9C5C3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048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张荫麟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3683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上古至魏晋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4191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有温度的历史叙事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讲普通人的生活</a:t>
            </a:r>
            <a:endParaRPr lang="en-US" sz="1300" b="0" i="0" u="none" strike="noStrike" dirty="0">
              <a:solidFill>
                <a:srgbClr val="646464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683000" y="2794000"/>
            <a:ext cx="2286000" cy="2540000"/>
          </a:xfrm>
          <a:prstGeom prst="roundRect">
            <a:avLst>
              <a:gd name="adj" fmla="val 0"/>
            </a:avLst>
          </a:prstGeom>
          <a:solidFill>
            <a:srgbClr val="9C5C3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683000" y="3048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雷海宗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937000" y="3683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通史脉络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937000" y="4191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历史周期规律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民族精神与韧性</a:t>
            </a:r>
            <a:endParaRPr lang="en-US" sz="1300" b="0" i="0" u="none" strike="noStrike" dirty="0">
              <a:solidFill>
                <a:srgbClr val="646464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50000" y="2794000"/>
            <a:ext cx="2286000" cy="2540000"/>
          </a:xfrm>
          <a:prstGeom prst="roundRect">
            <a:avLst>
              <a:gd name="adj" fmla="val 0"/>
            </a:avLst>
          </a:prstGeom>
          <a:solidFill>
            <a:srgbClr val="9C5C3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3048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陈寅恪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3683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隋唐盛世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4191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制度与文化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盛世的深层逻辑</a:t>
            </a:r>
          </a:p>
        </p:txBody>
      </p:sp>
      <p:sp>
        <p:nvSpPr>
          <p:cNvPr id="17" name="AutoShape 17"/>
          <p:cNvSpPr/>
          <p:nvPr/>
        </p:nvSpPr>
        <p:spPr>
          <a:xfrm>
            <a:off x="9017000" y="2794000"/>
            <a:ext cx="2286000" cy="2540000"/>
          </a:xfrm>
          <a:prstGeom prst="roundRect">
            <a:avLst>
              <a:gd name="adj" fmla="val 0"/>
            </a:avLst>
          </a:prstGeom>
          <a:solidFill>
            <a:srgbClr val="9C5C3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017000" y="3048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吴晗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71000" y="36830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B2B2B"/>
                </a:solidFill>
                <a:latin typeface="Kaiti SC"/>
                <a:ea typeface="Kaiti SC"/>
                <a:cs typeface="Kaiti SC"/>
                <a:sym typeface="Kaiti SC"/>
              </a:rPr>
              <a:t>明清历史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271000" y="41910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封建制度利弊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王朝衰亡逻辑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张荫麟：历史是有温度的</a:t>
            </a:r>
            <a:endParaRPr lang="en-US" sz="1100" dirty="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C5C3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上古至魏晋 · 温柔的叙事者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他写历史特别温柔，不生硬说教，更像讲故事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他不会只告诉我们"发生了什么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"，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而是会讲清楚当时的社会生活、普通人的状态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让我们能真切感受到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1" i="0" u="none" strike="noStrike" dirty="0" err="1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历史不是冰冷的条文，是无数人真实的生活</a:t>
            </a:r>
            <a:r>
              <a:rPr lang="en-US" sz="1600" b="1" i="0" u="none" strike="noStrike" dirty="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cxnSp>
        <p:nvCxnSpPr>
          <p:cNvPr id="6" name="Connector 6"/>
          <p:cNvCxnSpPr/>
          <p:nvPr/>
        </p:nvCxnSpPr>
        <p:spPr>
          <a:xfrm rot="5384373">
            <a:off x="4699000" y="3676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我读到的最打动我的点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6604000" y="24765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en-US" sz="16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他会讲一个普通人在那个时代是怎么生活的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en-US" sz="16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他会写一场战争背后，老百姓的处境</a:t>
            </a:r>
            <a:endParaRPr lang="en-US" sz="1600" b="0" i="0" u="none" strike="noStrike" dirty="0">
              <a:solidFill>
                <a:srgbClr val="646464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en-US" sz="16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他让我第一次觉得，历史里的人是活的</a:t>
            </a:r>
            <a:endParaRPr lang="en-US" sz="1600" b="0" i="0" u="none" strike="noStrike" dirty="0">
              <a:solidFill>
                <a:srgbClr val="646464"/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en-US" sz="16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不是课本里干巴巴的人名和年份</a:t>
            </a:r>
            <a:endParaRPr lang="en-US" sz="1600" b="0" i="0" u="none" strike="noStrike" dirty="0">
              <a:solidFill>
                <a:srgbClr val="646464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雷海宗：文明的韧性从哪来？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C5C3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通史脉络 · 格局最大的一位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他不纠结细碎的历史小事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而是把几千年历史串起来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总结中国历史的</a:t>
            </a:r>
            <a:r>
              <a:rPr lang="en-US" sz="1600" b="1" i="0" u="none" strike="noStrike" dirty="0" err="1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周期规律和民族精神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cxnSp>
        <p:nvCxnSpPr>
          <p:cNvPr id="6" name="Connector 6"/>
          <p:cNvCxnSpPr/>
          <p:nvPr/>
        </p:nvCxnSpPr>
        <p:spPr>
          <a:xfrm rot="5384373">
            <a:off x="4699000" y="3676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让我印象最深的观点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3048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他说中国历史之所以能绵延不绝，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不是因为一直强盛，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而是因为我们的文明有极强的韧性——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就算经历战乱、分裂，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最后总能重新凝聚、延续下去。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陈寅恪：盛唐为什么能成盛唐？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C5C3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隋唐盛世 · 讲细节与文化内核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他的讲课更偏向细节和文化内核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重点讲解隋唐盛世的制度、文化演变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他会告诉我们，盛唐的繁荣不只是国力强盛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更是</a:t>
            </a:r>
            <a:r>
              <a:rPr lang="en-US" sz="1600" b="1" i="0" u="none" strike="noStrike" dirty="0" err="1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包容、开放的文化底气</a:t>
            </a:r>
            <a:r>
              <a:rPr lang="en-US" sz="16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cxnSp>
        <p:nvCxnSpPr>
          <p:cNvPr id="6" name="Connector 6"/>
          <p:cNvCxnSpPr/>
          <p:nvPr/>
        </p:nvCxnSpPr>
        <p:spPr>
          <a:xfrm rot="5384373">
            <a:off x="4699000" y="3676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他讲透了一个道理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3048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一个时代的兴盛，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从来不是单一的军事强大，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而是</a:t>
            </a:r>
            <a:r>
              <a:rPr lang="en-US" sz="1600" b="1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制度、文化、人心的共同向好</a:t>
            </a: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开放和包容，才是盛世最硬的底牌。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吴晗：封建王朝为什么会一步步走死？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C5C3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明清历史 · 剖析封建制度的利弊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我们平时说明清落后、闭关锁国，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其实都很笼统。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而书里会结合具体的社会状况、政策问题，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清清楚楚讲明白封建王朝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一步步走向僵化、衰落的原因</a:t>
            </a:r>
            <a:r>
              <a:rPr lang="en-US" sz="1600" b="0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cxnSp>
        <p:nvCxnSpPr>
          <p:cNvPr id="6" name="Connector 6"/>
          <p:cNvCxnSpPr/>
          <p:nvPr/>
        </p:nvCxnSpPr>
        <p:spPr>
          <a:xfrm rot="5384373">
            <a:off x="4699000" y="3676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2286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读起来的感觉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3048000"/>
            <a:ext cx="457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不是简单说"封建制度不好"，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而是带着你看：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一个制度本来是怎么运行的，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又是在哪些节点上出了问题，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1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读起来特别通透。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读完这本书，我最大的收获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517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9C5C3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159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8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我们学历史，真的不只是为了考试</a:t>
            </a:r>
            <a:r>
              <a:rPr lang="en-US" sz="18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8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课本给我们的是</a:t>
            </a:r>
            <a:r>
              <a:rPr lang="en-US" sz="1800" b="1" i="0" u="none" strike="noStrike" dirty="0" err="1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考点</a:t>
            </a:r>
            <a:r>
              <a:rPr lang="en-US" sz="1800" b="0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，而这本书给我们的是</a:t>
            </a:r>
            <a:r>
              <a:rPr lang="en-US" sz="1800" b="1" i="0" u="none" strike="noStrike" dirty="0" err="1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历史的逻辑和民族的底气</a:t>
            </a:r>
            <a:r>
              <a:rPr lang="en-US" sz="1800" b="0" i="0" u="none" strike="noStrike" dirty="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1016000" y="355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它让我跳出了碎片化的知识点，真正串联起了上下五千年的历史脉络</a:t>
            </a:r>
            <a:r>
              <a:rPr lang="en-US" sz="16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  <a:endParaRPr lang="en-US" sz="1100" dirty="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 dirty="0" err="1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也理解了先辈们的家国情怀</a:t>
            </a:r>
            <a:r>
              <a:rPr lang="en-US" sz="16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cxnSp>
        <p:nvCxnSpPr>
          <p:cNvPr id="6" name="Connector 6"/>
          <p:cNvCxnSpPr/>
          <p:nvPr/>
        </p:nvCxnSpPr>
        <p:spPr>
          <a:xfrm rot="-4297">
            <a:off x="1016004" y="494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4EDD-6363-2300-9DFD-FFD5CE2E0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>
            <a:extLst>
              <a:ext uri="{FF2B5EF4-FFF2-40B4-BE49-F238E27FC236}">
                <a16:creationId xmlns:a16="http://schemas.microsoft.com/office/drawing/2014/main" id="{FCEAC22D-4574-7E68-6E58-DE2E6D710EB8}"/>
              </a:ext>
            </a:extLst>
          </p:cNvPr>
          <p:cNvCxnSpPr/>
          <p:nvPr/>
        </p:nvCxnSpPr>
        <p:spPr>
          <a:xfrm rot="-28647">
            <a:off x="1524026" y="2279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9C5C3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34257C66-E9FD-5734-9E54-D26DA91249CA}"/>
              </a:ext>
            </a:extLst>
          </p:cNvPr>
          <p:cNvSpPr/>
          <p:nvPr/>
        </p:nvSpPr>
        <p:spPr>
          <a:xfrm>
            <a:off x="1524000" y="25400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西南联大国史课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3C65E7A9-D347-94A0-B988-0064E94BB534}"/>
              </a:ext>
            </a:extLst>
          </p:cNvPr>
          <p:cNvSpPr/>
          <p:nvPr/>
        </p:nvSpPr>
        <p:spPr>
          <a:xfrm>
            <a:off x="1524000" y="3683000"/>
            <a:ext cx="914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 dirty="0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—— </a:t>
            </a:r>
            <a:r>
              <a:rPr lang="en-US" sz="2200" b="0" i="0" u="none" strike="noStrike" dirty="0" err="1">
                <a:solidFill>
                  <a:srgbClr val="9C5C38"/>
                </a:solidFill>
                <a:latin typeface="Kaiti SC"/>
                <a:ea typeface="Kaiti SC"/>
                <a:cs typeface="Kaiti SC"/>
                <a:sym typeface="Kaiti SC"/>
              </a:rPr>
              <a:t>一堂跨越八十年的历史公开课</a:t>
            </a:r>
            <a:endParaRPr lang="en-US" sz="1100" dirty="0"/>
          </a:p>
        </p:txBody>
      </p:sp>
      <p:cxnSp>
        <p:nvCxnSpPr>
          <p:cNvPr id="5" name="Connector 5">
            <a:extLst>
              <a:ext uri="{FF2B5EF4-FFF2-40B4-BE49-F238E27FC236}">
                <a16:creationId xmlns:a16="http://schemas.microsoft.com/office/drawing/2014/main" id="{57CB5325-109B-E237-6E3F-C79D82D3FBC1}"/>
              </a:ext>
            </a:extLst>
          </p:cNvPr>
          <p:cNvCxnSpPr/>
          <p:nvPr/>
        </p:nvCxnSpPr>
        <p:spPr>
          <a:xfrm rot="-42969">
            <a:off x="1524040" y="4819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B2B2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>
            <a:extLst>
              <a:ext uri="{FF2B5EF4-FFF2-40B4-BE49-F238E27FC236}">
                <a16:creationId xmlns:a16="http://schemas.microsoft.com/office/drawing/2014/main" id="{5DBCE12A-9C71-C4D7-D47D-E25C2D7A4D2E}"/>
              </a:ext>
            </a:extLst>
          </p:cNvPr>
          <p:cNvSpPr/>
          <p:nvPr/>
        </p:nvSpPr>
        <p:spPr>
          <a:xfrm>
            <a:off x="1524000" y="508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分享人：何晔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84856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</Words>
  <Application>Microsoft Office PowerPoint</Application>
  <PresentationFormat>宽屏</PresentationFormat>
  <Paragraphs>117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Kaiti SC</vt:lpstr>
      <vt:lpstr>Noto Serif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40916</dc:creator>
  <cp:lastModifiedBy>晔 何</cp:lastModifiedBy>
  <cp:revision>1</cp:revision>
  <dcterms:modified xsi:type="dcterms:W3CDTF">2026-09-19T14:06:46Z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{"Label":"1","ContentProducer":"001191110102MACQD9K64010000","ProduceID":"7687246536594279376","ReservedCode1":"","ContentPropagator":"","PropagateID":"","ReservedCode2":""}</vt:lpwstr>
  </property>
</Properties>
</file>