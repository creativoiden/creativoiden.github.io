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12.09.2026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参加本次星海沈浒路信息部摄影规范的培训。为了确保我们产出的视频内容在技术质量、艺术水准和品牌形象上保持高度统一，我们制定了这套详细的摄影规范。本次简介将涵盖视频规格、音频规范以及完整的拍摄流程，希望能帮助大家提升工作效率和作品质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明确一下制定这套规范的目的和重要性。它不仅仅是一系列技术参数的集合，更是我们保证内容质量、提升工作效率、强化品牌形象的重要工具。通过统一标准，我们可以确保所有视频素材的兼容性，便于后期处理和多平台发布。同时，规范的流程能帮助团队更好地协作，减少不必要的沟通成本和返工。最终，所有对外内容都将符合我们的品牌调性，展现专业形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规范简介将分为三个主要部分。首先，我们会详细讲解视频规格的统一标准，包括分辨率、帧率、编码等核心参数。其次，我们将探讨视频音频的规范，确保声音质量同样专业。最后，我们会介绍从前期准备到后期制作的完整拍摄流程。希望通过这三个部分的讲解，大家能对规范有一个全面的理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现在，我们进入第一部分：视频规格统一。这是保证我们所有视频素材质量和兼容性的基础。我们将从核心技术参数、码率设置和拍摄模式三个方面进行详细说明。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表格详细列出了我们推荐的核心技术参数。对于常规项目，我们推荐使用1080p分辨率和25fps帧率。而对于重要活动和品牌形象片，我们建议使用4K分辨率以获得更高的画质和后期处理空间。请大家特别注意，所有拍摄都应使用手动模式，并根据场景选择合适的快门速度和色彩空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码率是影响视频画质和文件大小的关键因素。这张表格给出了不同分辨率和内容类型下的推荐码率范围。例如，1080p的访谈类视频，8-12 Mbps就足够了；而4K的高质量内容，则需要40-50 Mbps来保证细节。请大家务必使用可变码率（VBR）进行拍摄，这能在保证画质的同时有效控制文件体积。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拍摄模式上，我们有一个明确的要求：禁用所有自动模式。这意味着从对焦、曝光到白平衡，都需要手动设置。手动对焦可以避免自动对焦的失误，确保焦点准确。手动曝光能让我们更好地控制画面的亮度和景深。而锁定白平衡则是保证画面色彩一致性的关键。这些操作虽然需要更多经验，但却是产出专业视频的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接下来，我们进入第二部分：视频音频规范。一个好的视频，声音质量和画面质量同样重要。我们将从技术参数、设备选择和现场技巧三个方面，确保我们的音频录制达到专业水准。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推荐的音频技术参数。采样率48kHz和比特深度24bit是专业制作的标准，能提供足够的动态范围。录制时，我们推荐使用WAV或AIFF等无损格式，以保留最高音质。特别要注意的是电平控制，对话的平均电平应保持在-18dBFS左右，峰值绝对不能超过-6dBFS，否则会产生不可逆的失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工欲善其事，必先利其器。在设备方面，我们首选超心形指向性枪式麦克风，它能精准地拾取前方声音，同时抑制周围噪音。麦克风的放置位置至关重要，必须靠近声源但又不能穿帮。现场录音时，实时监听是发现问题的关键，同时要注意控制环境噪音和做好防风措施。最后，别忘了录制环境音，这对后期制作非常有帮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录音过程中，我们经常会遇到一些问题。底噪、失真和回音是最常见的三个。为了避免底噪，要确保设备电量充足并使用高质量配件。为了避免失真，一定要正确设置电平，有条件的话可以采用双电平录制。而对于回音问题，最好的方法是提前选择合适的场地，或者使用吸音材料进行处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现在我们来到最后一部分：拍摄流程规范。一个标准化的流程是保证项目顺利进行和最终质量的关键。我们将把整个流程分为前期准备、中期执行和后期收尾三个阶段进行讲解。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前期准备是整个项目成功的基础。首先要与需求方充分沟通，明确目标。然后，编写详细的脚本和故事板，将创意可视化。接着，进行勘景和规划，制定详细的拍摄计划。最后，也是非常重要的一步，就是检查和准备所有设备，确保万无一失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进入拍摄现场后，首先要快速完成现场布置和调试工作，并进行试拍以确保一切正常。拍摄时，要严格按照脚本执行，每个镜头多拍几遍，并且尝试不同的景别和角度。同时，一定要使用场记板做好记录，这对后期剪辑至关重要。拍摄结束后，及时整理素材，为后期制作做好准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拍摄完成后，我们进入后期制作阶段。第一步是整理和备份所有素材，并建立清晰的文件结构。然后开始剪辑工作，从粗剪到精剪，再到调色和音频混缩，一步步完善视频。最后，生成初版视频供需求方审核，并根据反馈进行修改。审核通过后，导出最终版本并完成交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感谢大家的观看。希望通过今天的介绍，大家对我们信息部的摄影规范有了全面的了解。这套规范是我们提升工作效率和作品质量的重要工具，希望大家在今后的工作中严格遵守。如果有任何问题，欢迎随时交流。谢谢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svg"/><Relationship Id="rId5" Type="http://schemas.openxmlformats.org/officeDocument/2006/relationships/image" Target="../media/image6.sv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svg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3.jpe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Relationship Id="rId9" Type="http://schemas.openxmlformats.org/officeDocument/2006/relationships/image" Target="../media/image1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svg"/><Relationship Id="rId5" Type="http://schemas.openxmlformats.org/officeDocument/2006/relationships/image" Target="../media/image21.svg"/><Relationship Id="rId4" Type="http://schemas.openxmlformats.org/officeDocument/2006/relationships/image" Target="../media/image2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3.jpe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svg"/><Relationship Id="rId5" Type="http://schemas.openxmlformats.org/officeDocument/2006/relationships/image" Target="../media/image26.jpeg"/><Relationship Id="rId4" Type="http://schemas.openxmlformats.org/officeDocument/2006/relationships/image" Target="../media/image25.jpeg"/><Relationship Id="rId9" Type="http://schemas.openxmlformats.org/officeDocument/2006/relationships/image" Target="../media/image30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svg"/><Relationship Id="rId5" Type="http://schemas.openxmlformats.org/officeDocument/2006/relationships/image" Target="../media/image31.svg"/><Relationship Id="rId4" Type="http://schemas.openxmlformats.org/officeDocument/2006/relationships/image" Target="../media/image30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svg"/><Relationship Id="rId5" Type="http://schemas.openxmlformats.org/officeDocument/2006/relationships/image" Target="../media/image34.svg"/><Relationship Id="rId4" Type="http://schemas.openxmlformats.org/officeDocument/2006/relationships/image" Target="../media/image3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ap="flat" cmpd="sng">
            <a:solidFill>
              <a:srgbClr val="00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3" name="AutoShape 3"/>
          <p:cNvSpPr/>
          <p:nvPr/>
        </p:nvSpPr>
        <p:spPr>
          <a:xfrm>
            <a:off x="0" y="2413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星海沈浒路信息部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0" y="4191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 dirty="0" err="1">
                <a:solidFill>
                  <a:srgbClr val="FFFFFF">
                    <a:alpha val="85098"/>
                  </a:srgbClr>
                </a:solidFill>
                <a:latin typeface="新宋体" panose="02010609030101010101" pitchFamily="49" charset="-122"/>
                <a:ea typeface="新宋体" panose="02010609030101010101" pitchFamily="49" charset="-122"/>
                <a:cs typeface="Noto Sans SC"/>
                <a:sym typeface="Noto Sans SC"/>
              </a:rPr>
              <a:t>摄影规范简介</a:t>
            </a:r>
            <a:endParaRPr lang="en-US" sz="1100" b="1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080000" y="5524500"/>
            <a:ext cx="2032000" cy="508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cap="flat" cmpd="sng">
            <a:solidFill>
              <a:srgbClr val="33B7A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34B9549-E9F6-1AF0-D9D5-02B08D67129B}"/>
              </a:ext>
            </a:extLst>
          </p:cNvPr>
          <p:cNvSpPr txBox="1"/>
          <p:nvPr/>
        </p:nvSpPr>
        <p:spPr>
          <a:xfrm>
            <a:off x="9932207" y="364837"/>
            <a:ext cx="20823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注：本</a:t>
            </a:r>
            <a:r>
              <a:rPr lang="en-US" altLang="zh-CN" dirty="0"/>
              <a:t>PPT</a:t>
            </a:r>
            <a:r>
              <a:rPr lang="zh-CN" altLang="en-US" dirty="0"/>
              <a:t>由豆包制作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2524B80-47D1-2E9C-A48C-2509E0F4B0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200" y="364837"/>
            <a:ext cx="878495" cy="6710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前言：规范的目的与重要性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4FD1C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1590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87500" y="2159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01 统一技术标准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587500" y="2603500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确立标准化的音视频技术参数，保障素材兼容性与一致性，消除格式壁垒，为后期制作与多平台分发奠定坚实基础。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905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4FD1C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1590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048500" y="2159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02 提升内容质量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048500" y="2603500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通过规范拍摄流程与技术指标，从源头把控画面质感、色彩表现与叙事逻辑，全面提升视频作品的专业水准与艺术感染力。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3937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4FD1C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1910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87500" y="4191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03 提高工作效率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587500" y="4635500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标准化流程让团队分工清晰、协作高效，大幅减少沟通成本与后期返工，实现从拍摄到交付的全链路提效，加速内容产出。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3937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4FD1C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4191000"/>
            <a:ext cx="457200" cy="4572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048500" y="4191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04 强化品牌形象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048500" y="4635500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确保对外输出的视频内容高度契合品牌视觉识别系统与调性，传递统一、专业的品牌形象，增强受众对品牌的认知与信任。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5969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适用范围：本规范适用于星海沈浒路信息部全体成员，以及所有参与视频制作的外部合作伙伴。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目录 CONTENTS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286000"/>
            <a:ext cx="3302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FD1C5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25400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3429000"/>
            <a:ext cx="292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视频规格统一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5626">
            <a:off x="952514" y="3994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FD1C5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52500" y="4191000"/>
            <a:ext cx="292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核心技术参数与标准定义</a:t>
            </a:r>
            <a:b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视频码率与分辨率设置建议</a:t>
            </a:r>
            <a:b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拍摄模式与画幅选择指南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2286000"/>
            <a:ext cx="3302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FD1C5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635500" y="25400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35500" y="3429000"/>
            <a:ext cx="292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视频音频规范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5626">
            <a:off x="4635514" y="3994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FD1C5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635500" y="4191000"/>
            <a:ext cx="292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音频录制核心技术指标</a:t>
            </a:r>
            <a:b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专业录音设备选用与技巧</a:t>
            </a:r>
            <a:b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常见杂音问题分析与规避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0" y="2286000"/>
            <a:ext cx="3302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FD1C5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318500" y="25400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18500" y="3429000"/>
            <a:ext cx="292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拍摄流程规范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5626">
            <a:off x="8318514" y="3994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FD1C5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318500" y="4191000"/>
            <a:ext cx="292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前期筹备与场景确认要点</a:t>
            </a:r>
            <a:b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中期拍摄执行与镜头把控</a:t>
            </a:r>
            <a:b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后期素材整理与交付标准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1968500"/>
            <a:ext cx="12192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42545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视频规格统一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核心技术参数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为平衡画质呈现、文件体积与后期制作效率，我们制定了标准化的拍摄技术规范，确保成片效果统一且适配多元播放场景。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667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4FD1C5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9210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2921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分辨率与画幅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946">
            <a:off x="1016014" y="3422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276600"/>
            <a:ext cx="2921000" cy="234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1080p / 4K UHD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常规宣传用1080p兼顾效率；重要活动、品牌形象片用4K，为后期调色与二次剪辑预留充足空间。</a:t>
            </a:r>
            <a:endParaRPr lang="en-US" sz="1100" dirty="0"/>
          </a:p>
          <a:p>
            <a:pPr marL="0" indent="0" algn="l">
              <a:lnSpc>
                <a:spcPct val="125000"/>
              </a:lnSpc>
            </a:pPr>
            <a:r>
              <a:rPr lang="en-US" sz="1600" b="1" i="0" u="none" strike="noStrike" dirty="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16:9 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16:9适配全平台横屏播放</a:t>
            </a:r>
          </a:p>
        </p:txBody>
      </p:sp>
      <p:sp>
        <p:nvSpPr>
          <p:cNvPr id="10" name="AutoShape 10"/>
          <p:cNvSpPr/>
          <p:nvPr/>
        </p:nvSpPr>
        <p:spPr>
          <a:xfrm>
            <a:off x="4381500" y="2667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4FD1C5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29210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080000" y="2921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帧率与快门控制</a:t>
            </a:r>
            <a:endParaRPr lang="en-US" sz="1100" dirty="0"/>
          </a:p>
        </p:txBody>
      </p:sp>
      <p:cxnSp>
        <p:nvCxnSpPr>
          <p:cNvPr id="13" name="Connector 13"/>
          <p:cNvCxnSpPr/>
          <p:nvPr/>
        </p:nvCxnSpPr>
        <p:spPr>
          <a:xfrm rot="-14946">
            <a:off x="4635514" y="3422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4629178" y="3429000"/>
            <a:ext cx="2921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29.97fps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 err="1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绝大多数场景</a:t>
            </a:r>
            <a:endParaRPr lang="en-US" sz="1100" dirty="0"/>
          </a:p>
          <a:p>
            <a:pPr marL="0" indent="0" algn="l">
              <a:lnSpc>
                <a:spcPct val="125000"/>
              </a:lnSpc>
            </a:pPr>
            <a:endParaRPr lang="en-US" sz="1100" dirty="0"/>
          </a:p>
          <a:p>
            <a:pPr marL="0" indent="0" algn="l">
              <a:lnSpc>
                <a:spcPct val="125000"/>
              </a:lnSpc>
            </a:pPr>
            <a:r>
              <a:rPr lang="en-US" sz="1600" b="1" i="0" u="none" strike="noStrike" dirty="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59.94fps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 err="1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适配运动赛事、快速动作捕捉，可制作平滑的慢动作效果，有效避免画面动态模糊</a:t>
            </a:r>
            <a:r>
              <a:rPr lang="en-US" sz="1300" b="0" i="0" u="none" strike="noStrike" dirty="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001000" y="2667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4FD1C5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55000" y="2921000"/>
            <a:ext cx="355600" cy="355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699500" y="2921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色彩与编码规范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4946">
            <a:off x="8255014" y="3422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8255000" y="3429000"/>
            <a:ext cx="2921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色彩空间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日常直出使用Rec.709色域，确保与主流显示器一致；专业制作启用Log模式，保留最大动态范围。</a:t>
            </a:r>
            <a:endParaRPr lang="en-US" sz="1100" dirty="0"/>
          </a:p>
          <a:p>
            <a:pPr marL="0" indent="0" algn="l">
              <a:lnSpc>
                <a:spcPct val="125000"/>
              </a:lnSpc>
            </a:pPr>
            <a:endParaRPr lang="en-US" sz="1100" dirty="0"/>
          </a:p>
          <a:p>
            <a:pPr marL="0" indent="0" algn="l">
              <a:lnSpc>
                <a:spcPct val="125000"/>
              </a:lnSpc>
            </a:pPr>
            <a:r>
              <a:rPr lang="en-US" sz="1600" b="1" i="0" u="none" strike="noStrike" dirty="0" err="1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编码格式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H.265，节省存储成本。</a:t>
            </a:r>
          </a:p>
        </p:txBody>
      </p:sp>
      <p:sp>
        <p:nvSpPr>
          <p:cNvPr id="20" name="AutoShape 20"/>
          <p:cNvSpPr/>
          <p:nvPr/>
        </p:nvSpPr>
        <p:spPr>
          <a:xfrm>
            <a:off x="762000" y="6159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 建议：所有拍摄请使用相机手动模式（M档），严格校准白平衡与曝光，确保多机位素材的色彩一致性。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码率设置建议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l="585" r="585"/>
          <a:stretch>
            <a:fillRect/>
          </a:stretch>
        </p:blipFill>
        <p:spPr>
          <a:xfrm>
            <a:off x="762000" y="1778000"/>
            <a:ext cx="4064000" cy="2667000"/>
          </a:xfrm>
          <a:prstGeom prst="rect">
            <a:avLst/>
          </a:prstGeom>
          <a:noFill/>
          <a:ln w="25400" cap="flat" cmpd="sng">
            <a:solidFill>
              <a:srgbClr val="FFFFFF">
                <a:alpha val="60000"/>
              </a:srgbClr>
            </a:solidFill>
            <a:prstDash val="solid"/>
            <a:round/>
          </a:ln>
          <a:effectLst>
            <a:outerShdw blurRad="152400" dist="76200" dir="2700000" algn="tl">
              <a:srgbClr val="000000">
                <a:alpha val="1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5720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图示：视频编码参数设置界面，建议根据内容类型灵活调整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207000" y="1778000"/>
            <a:ext cx="6350000" cy="5334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5207000" y="1778000"/>
            <a:ext cx="1270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分辨率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477000" y="1778000"/>
            <a:ext cx="1905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内容类型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382000" y="1778000"/>
            <a:ext cx="1524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推荐码率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033000" y="1778000"/>
            <a:ext cx="1397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编码格式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207000" y="2438400"/>
            <a:ext cx="6350000" cy="584200"/>
          </a:xfrm>
          <a:prstGeom prst="roundRect">
            <a:avLst>
              <a:gd name="adj" fmla="val 0"/>
            </a:avLst>
          </a:prstGeom>
          <a:solidFill>
            <a:srgbClr val="F7FAFC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5207000" y="2438400"/>
            <a:ext cx="1270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1080p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77000" y="2438400"/>
            <a:ext cx="1905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静态画面 / 访谈 / PPT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82000" y="2438400"/>
            <a:ext cx="1524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8 - 12 Mbps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033000" y="2438400"/>
            <a:ext cx="1397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H.264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207000" y="3098800"/>
            <a:ext cx="6350000" cy="584200"/>
          </a:xfrm>
          <a:prstGeom prst="roundRect">
            <a:avLst>
              <a:gd name="adj" fmla="val 0"/>
            </a:avLst>
          </a:prstGeom>
          <a:solidFill>
            <a:srgbClr val="EDF2F7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5207000" y="3098800"/>
            <a:ext cx="1270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1080p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77000" y="3098800"/>
            <a:ext cx="1905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动态画面 / 运动 / 会议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382000" y="3098800"/>
            <a:ext cx="1524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50 Mbps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0033000" y="3098800"/>
            <a:ext cx="1397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H.264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5207000" y="3759200"/>
            <a:ext cx="6350000" cy="584200"/>
          </a:xfrm>
          <a:prstGeom prst="roundRect">
            <a:avLst>
              <a:gd name="adj" fmla="val 0"/>
            </a:avLst>
          </a:prstGeom>
          <a:solidFill>
            <a:srgbClr val="F7FAFC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5207000" y="3759200"/>
            <a:ext cx="1270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4K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477000" y="3759200"/>
            <a:ext cx="1905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常规演示 / 普通内容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382000" y="3759200"/>
            <a:ext cx="1524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30 - 40 Mbps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10033000" y="3759200"/>
            <a:ext cx="1397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H.265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5207000" y="4419600"/>
            <a:ext cx="6350000" cy="584200"/>
          </a:xfrm>
          <a:prstGeom prst="roundRect">
            <a:avLst>
              <a:gd name="adj" fmla="val 0"/>
            </a:avLst>
          </a:prstGeom>
          <a:solidFill>
            <a:srgbClr val="EDF2F7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5207000" y="4419600"/>
            <a:ext cx="1270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4K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477000" y="4419600"/>
            <a:ext cx="1905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高质量 / 细节丰富内容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382000" y="4419600"/>
            <a:ext cx="1524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100 Mbps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10033000" y="4419600"/>
            <a:ext cx="1397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H.265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762000" y="53340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4FD1C5">
              <a:alpha val="10000"/>
            </a:srgbClr>
          </a:solidFill>
          <a:ln w="12700" cap="flat" cmpd="sng">
            <a:solidFill>
              <a:srgbClr val="4FD1C5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5638800"/>
            <a:ext cx="406400" cy="4064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1587500" y="5334000"/>
            <a:ext cx="965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专家建议：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务必使用 </a:t>
            </a:r>
            <a:r>
              <a:rPr lang="en-US" sz="14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可变码率 (VBR)</a:t>
            </a: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 模式。它能根据画面复杂度动态分配码率，在保证画质细节的同时，有效优化文件体积，平衡播放流畅度与存储空间。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拍摄模式选择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为了确保画面的稳定性和专业性，我们必须摒弃自动模式，采用全手动操作，从对焦、曝光到白平衡，每一个参数都需精准把控。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667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857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857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自动模式禁用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3655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 dirty="0" err="1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严禁使用全自动模式，必须手动设置曝光、对焦和白平衡参数。这是保证画面稳定性、色彩准确性与专业质感的基础前提</a:t>
            </a:r>
            <a:r>
              <a:rPr lang="en-US" sz="1400" b="0" i="0" u="none" strike="noStrike" dirty="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6223000" y="2667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857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985000" y="2857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手动对焦</a:t>
            </a:r>
            <a:r>
              <a:rPr lang="en-US" sz="1800" b="1" i="0" u="none" strike="noStrike" dirty="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 (MF)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6477000" y="33655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 dirty="0" err="1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正式拍摄全程使用手动对焦，彻底避免自动对焦的“拉风箱”现象，确保焦点始终精准落在主体上，画面清晰锐利</a:t>
            </a:r>
            <a:r>
              <a:rPr lang="en-US" sz="1400" b="0" i="0" u="none" strike="noStrike" dirty="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762000" y="45085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699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24000" y="4699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手动曝光 (M档)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16000" y="52070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 dirty="0" err="1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依据环境光线手动调节光圈、快门速度和ISO值，精准控制画面亮度与景深，确保镜头移动或光线变化时曝光始终一致</a:t>
            </a:r>
            <a:r>
              <a:rPr lang="en-US" sz="1400" b="0" i="0" u="none" strike="noStrike" dirty="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7" name="AutoShape 17"/>
          <p:cNvSpPr/>
          <p:nvPr/>
        </p:nvSpPr>
        <p:spPr>
          <a:xfrm>
            <a:off x="6223000" y="45085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46990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985000" y="4699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白平衡锁定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77000" y="52070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 dirty="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根据现场光源设定固定色温（如日光5600K）并锁定，确保同一场景下色彩还原统一，避免画面出现偏色或色彩跳变。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032000"/>
            <a:ext cx="12192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937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视频音频规范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5207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从技术参数、设备选择到现场收音技巧，全方位解析专业视听标准，打造极致沉浸体验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核心技术参数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782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968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19685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采样率标准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413000"/>
            <a:ext cx="2870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48 kHz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984500"/>
            <a:ext cx="2870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专业影视制作通用标准，确保声音细节的高保真还原与后期处理精度。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94200" y="1778000"/>
            <a:ext cx="33782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48200" y="1968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029200" y="19685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量化比特深度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48200" y="2413000"/>
            <a:ext cx="2870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24 bit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48200" y="2984500"/>
            <a:ext cx="2870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提供更宽广的动态范围，捕捉从极细微到强烈的声音细节，提升后期容错率。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26400" y="1778000"/>
            <a:ext cx="33782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80400" y="19685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661400" y="19685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声道系统配置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280400" y="2413000"/>
            <a:ext cx="2870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立体声 / 5.1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280400" y="2984500"/>
            <a:ext cx="2870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立体声适配绝大多数常规场景；5.1环绕声用于沉浸式项目，需提前规划制作。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064000"/>
            <a:ext cx="33782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2545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397000" y="42545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交付与制作格式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016000" y="4699000"/>
            <a:ext cx="2870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WAV / AIFF / AAC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016000" y="5270500"/>
            <a:ext cx="2870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前期录制使用无损格式保留原始音质；最终交付采用AAC格式，兼顾质量与兼容性。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394200" y="4064000"/>
            <a:ext cx="33782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8200" y="42545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5029200" y="42545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平均参考电平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4648200" y="4699000"/>
            <a:ext cx="2870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-18 dBFS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4648200" y="5270500"/>
            <a:ext cx="2870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影视对话录制的行业标准基准，确保声音清晰度与后期混音的最佳起点。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026400" y="4064000"/>
            <a:ext cx="33782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80400" y="4254500"/>
            <a:ext cx="304800" cy="3048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8661400" y="42545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峰值电平限制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8280400" y="4699000"/>
            <a:ext cx="2870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ED8936"/>
                </a:solidFill>
                <a:latin typeface="Noto Sans SC"/>
                <a:ea typeface="Noto Sans SC"/>
                <a:cs typeface="Noto Sans SC"/>
                <a:sym typeface="Noto Sans SC"/>
              </a:rPr>
              <a:t>≤ -6 dBFS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8280400" y="5270500"/>
            <a:ext cx="2870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严格控制避免音频失真（Clipping），保障信号完整性，为后期留出足够空间。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录音设备与技巧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l="101" r="101"/>
          <a:stretch>
            <a:fillRect/>
          </a:stretch>
        </p:blipFill>
        <p:spPr>
          <a:xfrm>
            <a:off x="762000" y="1778000"/>
            <a:ext cx="4318000" cy="2286000"/>
          </a:xfrm>
          <a:prstGeom prst="roundRect">
            <a:avLst>
              <a:gd name="adj" fmla="val 6666"/>
            </a:avLst>
          </a:prstGeom>
          <a:noFill/>
          <a:ln w="254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4318000"/>
            <a:ext cx="43180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专业的录音设备是捕捉高质量声音的基础。无论是枪式麦克风的强指向性，还是领夹麦克风的隐蔽性，正确的设备选择与使用能有效提升现场收音的质感，为后期制作打下坚实基础。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461000" y="1778000"/>
            <a:ext cx="6096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FD1C5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51500" y="1968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6159500" y="1905000"/>
            <a:ext cx="5270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01 麦克风选择：精准拾音的核心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首选超心形枪式麦克风（如Sennheiser MKH 416）以隔离环境噪音；嘈杂环境下搭配领夹麦克风作为无线备份，确保声音清晰稳定。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5461000" y="3365500"/>
            <a:ext cx="6096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FD1C5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51500" y="3556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159500" y="3492500"/>
            <a:ext cx="5270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02 麦克风放置：近距拾音，避免穿帮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枪式麦克风距嘴30-60cm且不入画；领夹麦克风佩戴于衣领下方15-20cm处，有效规避衣物摩擦产生的杂音干扰。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5461000" y="4953000"/>
            <a:ext cx="6096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FD1C5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51500" y="5143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159500" y="5080000"/>
            <a:ext cx="5270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03 现场关键：细节决定成败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全程佩戴耳机实时监听；清理环境噪音源；室外必用防风罩；每个场景录制至少30秒环境音，为后期混音提供空间感。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常见问题与规避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FD1C5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2860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87500" y="2311400"/>
            <a:ext cx="254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01 避免底噪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984500"/>
            <a:ext cx="28702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电力保障：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确保设备电量充足，低电量运行会导致电子元件不稳定，产生额外电流底噪。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硬件优化：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使用带屏蔽层的专业音频线缆，检查接口是否松动，避免接触不良引发的噪音。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4406900" y="2032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FD1C5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0900" y="22860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232400" y="2311400"/>
            <a:ext cx="254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02 避免失真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60900" y="2984500"/>
            <a:ext cx="28702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电平控制：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调试输入增益，确保峰值控制在 -6dBFS 以内，防止信号过载导致的破音失真。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双轨备份：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开启“安全音轨”录制，同时生成标准电平与低电平音轨，为后期补救留余地。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8051800" y="2032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FD1C5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05800" y="22860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877300" y="2311400"/>
            <a:ext cx="254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03 避免回音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05800" y="2984500"/>
            <a:ext cx="28702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环境吸音：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利用地毯、厚窗帘、吸音棉等软装覆盖硬质表面，有效吸收声波反射，减少混响。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拾音技巧：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调整麦克风指向，避开光滑墙面；使用心形指向麦克风，减少后方环境音收录。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762000" y="5867400"/>
            <a:ext cx="10668000" cy="558800"/>
          </a:xfrm>
          <a:prstGeom prst="roundRect">
            <a:avLst>
              <a:gd name="adj" fmla="val 0"/>
            </a:avLst>
          </a:prstGeom>
          <a:solidFill>
            <a:srgbClr val="4FD1C5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952500" y="596900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💡 专业提示：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正式录制前，请进行至少5分钟的环境试录并监听回放，确认无异常后再开始录制。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032000"/>
            <a:ext cx="1219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937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拍摄流程规范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5334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 spc="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标准化流程管理 · 全流程质量把控 · 高效交付体系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前期准备阶段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t="10647" b="10647"/>
          <a:stretch>
            <a:fillRect/>
          </a:stretch>
        </p:blipFill>
        <p:spPr>
          <a:xfrm>
            <a:off x="762000" y="1651000"/>
            <a:ext cx="5207000" cy="2286000"/>
          </a:xfrm>
          <a:prstGeom prst="roundRect">
            <a:avLst>
              <a:gd name="adj" fmla="val 6666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90500" dist="76200" dir="2700000" algn="tl">
              <a:srgbClr val="2D3748">
                <a:alpha val="10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rcRect t="10987" b="10987"/>
          <a:stretch>
            <a:fillRect/>
          </a:stretch>
        </p:blipFill>
        <p:spPr>
          <a:xfrm>
            <a:off x="6223000" y="1651000"/>
            <a:ext cx="5207000" cy="2286000"/>
          </a:xfrm>
          <a:prstGeom prst="roundRect">
            <a:avLst>
              <a:gd name="adj" fmla="val 6666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90500" dist="76200" dir="2700000" algn="tl">
              <a:srgbClr val="2D3748">
                <a:alpha val="10000"/>
              </a:srgbClr>
            </a:outerShdw>
          </a:effectLst>
        </p:spPr>
      </p:pic>
      <p:sp>
        <p:nvSpPr>
          <p:cNvPr id="6" name="AutoShape 6"/>
          <p:cNvSpPr/>
          <p:nvPr/>
        </p:nvSpPr>
        <p:spPr>
          <a:xfrm>
            <a:off x="762000" y="4127500"/>
            <a:ext cx="5270500" cy="1168400"/>
          </a:xfrm>
          <a:prstGeom prst="roundRect">
            <a:avLst>
              <a:gd name="adj" fmla="val 0"/>
            </a:avLst>
          </a:prstGeom>
          <a:solidFill>
            <a:srgbClr val="4FD1C5">
              <a:alpha val="1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4318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4318000"/>
            <a:ext cx="4508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01 明确需求与目标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4724400"/>
            <a:ext cx="488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与需求方深度沟通，明确视频用途、受众及核心信息，确认时长、风格与交付节点，为项目定调。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4127500"/>
            <a:ext cx="5270500" cy="1168400"/>
          </a:xfrm>
          <a:prstGeom prst="roundRect">
            <a:avLst>
              <a:gd name="adj" fmla="val 0"/>
            </a:avLst>
          </a:prstGeom>
          <a:solidFill>
            <a:srgbClr val="4FD1C5">
              <a:alpha val="1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13500" y="4318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858000" y="4318000"/>
            <a:ext cx="4508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02 脚本与故事板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13500" y="4724400"/>
            <a:ext cx="488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撰写含台词与镜头细节的脚本，绘制关键画面故事板，将抽象创意转化为可视化的执行蓝图。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5397500"/>
            <a:ext cx="5270500" cy="1168400"/>
          </a:xfrm>
          <a:prstGeom prst="roundRect">
            <a:avLst>
              <a:gd name="adj" fmla="val 0"/>
            </a:avLst>
          </a:prstGeom>
          <a:solidFill>
            <a:srgbClr val="4FD1C5">
              <a:alpha val="1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2500" y="55880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397000" y="5588000"/>
            <a:ext cx="4508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03 勘景与规划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52500" y="5994400"/>
            <a:ext cx="488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实地勘察场地，评估光线、空间与环境干扰，制定详尽的拍摄清单（Shot List）与日程表。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5397500"/>
            <a:ext cx="5270500" cy="1168400"/>
          </a:xfrm>
          <a:prstGeom prst="roundRect">
            <a:avLst>
              <a:gd name="adj" fmla="val 0"/>
            </a:avLst>
          </a:prstGeom>
          <a:solidFill>
            <a:srgbClr val="4FD1C5">
              <a:alpha val="1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13500" y="55880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858000" y="5588000"/>
            <a:ext cx="4508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04 设备准备与检查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413500" y="5994400"/>
            <a:ext cx="488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全面检测摄像机、稳定器等设备，备足电池、存储卡与灯光配件，确保拍摄环节零故障。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中期执行阶段 (Production)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159000"/>
            <a:ext cx="33782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4765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24765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01 现场布置与调试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5211">
            <a:off x="1016014" y="3168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3365500"/>
            <a:ext cx="28702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抵达现场后，依据拍摄计划快速搭建灯光、麦克风与摄像设备。通过试拍环节，细致检查画面构图、光线层次、焦点虚实及收音质量，确保拍摄基础条件达标。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06900" y="2159000"/>
            <a:ext cx="33782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0900" y="24765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295900" y="24765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02 规范拍摄执行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5211">
            <a:off x="4660914" y="3168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660900" y="3365500"/>
            <a:ext cx="28702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严格遵循脚本与分镜计划，每个镜头至少拍摄2遍以留存备选素材。灵活运用全景、中景、特写等丰富景别，并借助稳定设备保障画面平稳，提升视觉表现力。</a:t>
            </a: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8051800" y="2159000"/>
            <a:ext cx="33782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05800" y="2476500"/>
            <a:ext cx="508000" cy="508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940800" y="24765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03 场记与素材归档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5211">
            <a:off x="8305814" y="3168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305800" y="3365500"/>
            <a:ext cx="28702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使用场记板精准记录场次、镜号与拍摄次数。拍摄结束后即时整理存储卡素材，做好分类标记与双重备份，为后期剪辑的高效检索和素材管理提供清晰依据。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后期收尾阶段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782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23368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25600" y="2362200"/>
            <a:ext cx="2768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01 素材整理与备份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5769">
            <a:off x="1066815" y="2978150"/>
            <a:ext cx="276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66800" y="3175000"/>
            <a:ext cx="28702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将拍摄的视频、音频及图片素材批量导入并进行双重备份，确保源文件安全。遵循统一命名规则整理文件，搭建清晰的文件夹层级结构，为后续剪辑工作奠定高效有序的基础。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4406900" y="2032000"/>
            <a:ext cx="33782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11700" y="23368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270500" y="2362200"/>
            <a:ext cx="2768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02 剪辑与制作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5769">
            <a:off x="4711715" y="2978150"/>
            <a:ext cx="276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711700" y="3175000"/>
            <a:ext cx="28702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依据脚本完成粗剪以确定叙事节奏，随后进行精剪优化画面衔接；叠加转场、字幕与动态图形增强视觉表现力；通过专业调色统一影调风格，并进行精细的音频混缩与音效设计，提升作品质感。</a:t>
            </a: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8051800" y="2032000"/>
            <a:ext cx="33782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56600" y="2336800"/>
            <a:ext cx="457200" cy="4572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915400" y="2362200"/>
            <a:ext cx="2768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03 审核与交付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5769">
            <a:off x="8356615" y="2978150"/>
            <a:ext cx="276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356600" y="3175000"/>
            <a:ext cx="28702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输出初版视频提交需求方审核，根据反馈进行1-3轮针对性修改与优化。确认内容无误后，按照指定格式、分辨率及码率导出最终成片，完成文件交付与项目归档，确保交付物符合预期。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413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感谢观看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4064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0" i="0" u="none" strike="noStrike" spc="8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THANKS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5461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 dirty="0" err="1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持续探索</a:t>
            </a:r>
            <a:r>
              <a:rPr lang="en-US" sz="16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1600" b="0" i="0" u="none" strike="noStrike" dirty="0" err="1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共创价值</a:t>
            </a:r>
            <a:r>
              <a:rPr lang="en-US" sz="16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1600" b="0" i="0" u="none" strike="noStrike" dirty="0" err="1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追求卓越</a:t>
            </a:r>
            <a:endParaRPr lang="en-US" sz="1100" dirty="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1088</Words>
  <Application>Microsoft Office PowerPoint</Application>
  <PresentationFormat>宽屏</PresentationFormat>
  <Paragraphs>190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1" baseType="lpstr">
      <vt:lpstr>Noto Sans SC</vt:lpstr>
      <vt:lpstr>新宋体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何晔</dc:creator>
  <cp:lastModifiedBy>晔 何</cp:lastModifiedBy>
  <cp:revision>3</cp:revision>
  <dcterms:modified xsi:type="dcterms:W3CDTF">2026-09-12T12:48:28Z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{"Label":"1","ContentProducer":"001191110102MACQD9K64010000","ProduceID":"7684588049242000329","ReservedCode1":"","ContentPropagator":"","PropagateID":"","ReservedCode2":""}</vt:lpwstr>
  </property>
</Properties>
</file>